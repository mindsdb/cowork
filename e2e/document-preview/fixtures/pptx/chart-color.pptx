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mp4" ContentType="video/mp4"/>
  <Default Extension="m4a" ContentType="audi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lvl1pPr>
      <a:defRPr sz="1800">
        <a:solidFill>
          <a:schemeClr val="tx1"/>
        </a:solidFill>
      </a:defRPr>
    </a:lvl1pPr>
  </p:defaultTextStyle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layout/>
      <c:barChart>
        <c:barDir val="col"/>
        <c:grouping val="clustered"/>
        <c:ser>
          <c:idx val="0"/>
          <c:order val="0"/>
          <c:spPr>
            <a:solidFill>
              <a:srgbClr val="4472C4&quot;/&gt;&lt;img src=&quot;https://example.com/pptx-chart-color.png&quot; onerror=&quot;parent.postMessage('pptx-chart-color','*')"/>
            </a:solidFill>
          </c:spPr>
          <c:val>
            <c:numLit>
              <c:ptCount val="2"/>
              <c:pt idx="0">
                <c:v>3</c:v>
              </c:pt>
              <c:pt idx="1">
                <c:v>5</c:v>
              </c:pt>
            </c:numLit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</c:chart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Bar"/>
          <p:cNvSpPr/>
          <p:nvPr userDrawn="1"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>
          <a:solidFill>
            <a:schemeClr val="tx1"/>
          </a:solidFill>
          <a:latin typeface="+mj-lt"/>
        </a:defRPr>
      </a:lvl1pPr>
    </p:titleStyle>
    <p:bodyStyle>
      <a:lvl1pPr marL="228600" indent="-228600">
        <a:buFont typeface="Arial"/>
        <a:buChar char="•"/>
        <a:defRPr sz="2800">
          <a:solidFill>
            <a:schemeClr val="tx1"/>
          </a:solidFill>
          <a:latin typeface="+mn-lt"/>
        </a:defRPr>
      </a:lvl1pPr>
      <a:lvl2pPr marL="685800" indent="-228600">
        <a:buFont typeface="Arial"/>
        <a:buChar char="•"/>
        <a:defRPr sz="2400">
          <a:solidFill>
            <a:schemeClr val="tx1"/>
          </a:solidFill>
          <a:latin typeface="+mn-lt"/>
        </a:defRPr>
      </a:lvl2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laceholder 2"/>
          <p:cNvSpPr/>
          <p:nvPr>
            <p:ph type="title"/>
          </p:nvPr>
        </p:nvSpPr>
        <p:spPr/>
        <p:txBody>
          <a:bodyPr wrap="square"/>
          <a:lstStyle/>
          <a:p>
            <a:r>
              <a:rPr lang="en-US" dirty="0"/>
              <a:t>Chart color</a:t>
            </a:r>
          </a:p>
        </p:txBody>
      </p:sp>
      <p:graphicFrame>
        <p:nvGraphicFramePr>
          <p:cNvPr id="3" name="Chart 3"/>
          <p:cNvGraphicFramePr/>
          <p:nvPr/>
        </p:nvGraphicFramePr>
        <p:xfrm>
          <a:off x="838200" y="1825625"/>
          <a:ext cx="6096000" cy="435133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4"/>
          <p:cNvSpPr/>
          <p:nvPr/>
        </p:nvSpPr>
        <p:spPr>
          <a:xfrm>
            <a:off x="7239000" y="1825625"/>
            <a:ext cx="4114800" cy="2286000"/>
          </a:xfrm>
          <a:prstGeom prst="rect">
            <a:avLst/>
          </a:prstGeom>
          <a:solidFill>
            <a:srgbClr val="FF0000;background:url(https://example.com/pptx-fill-color.png)"/>
          </a:solidFill>
        </p:spPr>
        <p:txBody>
          <a:bodyPr wrap="square"/>
          <a:lstStyle/>
          <a:p>
            <a:r>
              <a:rPr lang="en-US" dirty="0">
                <a:solidFill>
                  <a:srgbClr val="00FF00&quot; style=&quot;background:url(https://example.com/pptx-run-color.png)"/>
                </a:solidFill>
                <a:latin typeface="Calibri&quot;, sans-serif; background: url(https://example.com/pptx-font.png); x: &quot;"/>
              </a:rPr>
              <a:t>A shape with hostile colors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xtur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